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</ns0:sldIdLst>
  <ns0:sldSz cx="12192000" cy="6858000" type="screen4x3"/>
  <ns0:notesSz cx="6858000" cy="9144000"/>
  <ns0:embeddedFontLst>
    <ns0:embeddedFont>
      <ns0:font typeface="Plus Jakarta Sans"/>
      <ns0:bold ns1:id="rIdFont11"/>
      <ns0:regular ns1:id="rIdFont1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Font11" Type="http://schemas.openxmlformats.org/officeDocument/2006/relationships/font" Target="fonts/5e4ffbc5-428c-4e08-82c8-627460ed09f4.fntdata" /><ns0:Relationship Id="rIdFont12" Type="http://schemas.openxmlformats.org/officeDocument/2006/relationships/font" Target="fonts/7203fb71-7ba6-46ce-9459-f742f1eea7f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79590"/>
            <a:ext cx="66675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579590"/>
            <a:ext cx="6667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0725" y="4855815"/>
            <a:ext cx="9525" cy="390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81475" y="4855815"/>
            <a:ext cx="9525" cy="390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11659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06909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2297459"/>
            <a:ext cx="5290661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Báo Cáo Lỗ Lãi (P&amp;L)</a:t>
            </a:r>
            <a:r>
              <a:t>
</a:t>
            </a:r>
            <a:r>
              <a:rPr b="1" sz="3900" i="0" u="none">
                <a:solidFill>
                  <a:srgbClr val="FFFFFF"/>
                </a:solidFill>
                <a:latin typeface="Plus Jakarta Sans"/>
              </a:rPr>
              <a:t> Tháng 05/2024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27090"/>
            <a:ext cx="6286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Tổng quan hiệu quả tài chính, tăng trưởng doanh thu và phân tích chi phí vận hành trọng điểm.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1683097"/>
            <a:ext cx="21193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0A5FA"/>
                </a:solidFill>
                <a:latin typeface="Plus Jakarta Sans"/>
              </a:rPr>
              <a:t>PAYKX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855815"/>
            <a:ext cx="101917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Ngày báo cáo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E2E8F0"/>
                </a:solidFill>
                <a:latin typeface="Plus Jakarta Sans"/>
              </a:rPr>
              <a:t>31/05/2024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5050" y="4855815"/>
            <a:ext cx="166687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Đơn vị tiền tệ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E2E8F0"/>
                </a:solidFill>
                <a:latin typeface="Plus Jakarta Sans"/>
              </a:rPr>
              <a:t>VNĐ (Việt Nam Đồng)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4855815"/>
            <a:ext cx="14287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Bộ phận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E2E8F0"/>
                </a:solidFill>
                <a:latin typeface="Plus Jakarta Sans"/>
              </a:rPr>
              <a:t>Tài chính - Kế toán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429750" y="604837"/>
            <a:ext cx="215265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62287"/>
            <a:ext cx="3498800" cy="1733550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7000" y="3062287"/>
            <a:ext cx="3498800" cy="1733550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4400" y="3052762"/>
            <a:ext cx="3517850" cy="1752600"/>
          </a:xfrm>
          <a:prstGeom prst="roundRect">
            <a:avLst>
              <a:gd name="adj" fmla="val 869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150" y="690562"/>
            <a:ext cx="1714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67087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48162"/>
            <a:ext cx="85725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600" y="3367087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600" y="4348162"/>
            <a:ext cx="8572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525" y="3367087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4348162"/>
            <a:ext cx="13335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3462337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900" y="3462337"/>
            <a:ext cx="1143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7775" y="3462337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426720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Tổng Quan Chỉ Số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95325"/>
            <a:ext cx="547568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Kết Quả Tài Chính Trọng Tâm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681037"/>
            <a:ext cx="200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Tăng trưởng +18.5% MoM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824287"/>
            <a:ext cx="3802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12.8 Tỷ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319587"/>
            <a:ext cx="3802000" cy="17145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+14.2% so với tháng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600" y="3824287"/>
            <a:ext cx="3802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8.1 Tỷ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5600" y="4319587"/>
            <a:ext cx="3802000" cy="17145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+5.8% kiểm soát tốt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525" y="3824287"/>
            <a:ext cx="3802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15803D"/>
                </a:solidFill>
                <a:latin typeface="Plus Jakarta Sans"/>
              </a:rPr>
              <a:t>4.7 Tỷ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525" y="4319587"/>
            <a:ext cx="3802000" cy="17145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Biên lợi nhuận 36.7%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350" y="3448050"/>
            <a:ext cx="14001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Tổng Doanh Thu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3750" y="3448050"/>
            <a:ext cx="1143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Tổng Chi Phí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0675" y="3448050"/>
            <a:ext cx="13716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Lợi Nhuận Ròng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57450"/>
            <a:ext cx="5257800" cy="828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476625"/>
            <a:ext cx="5257800" cy="828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495800"/>
            <a:ext cx="5257800" cy="828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457450"/>
            <a:ext cx="38100" cy="8286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476625"/>
            <a:ext cx="38100" cy="8286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495800"/>
            <a:ext cx="38100" cy="828675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795462"/>
            <a:ext cx="5257800" cy="419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795462"/>
            <a:ext cx="5257800" cy="419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Cơ Cấu Doanh Thu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Nguồn Thu Chính Tháng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924175"/>
            <a:ext cx="604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Đóng góp 53% tổng doanh thu dịch vụ.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943350"/>
            <a:ext cx="604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Đóng góp 30% từ mạng lưới đối tác rộng khắp.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962525"/>
            <a:ext cx="604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Đóng góp 17% từ các hợp đồng nâng cấp hệ thống.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647950"/>
            <a:ext cx="33504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Phí Giao Dịch Cổng Thanh Toán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2075" y="2647950"/>
            <a:ext cx="790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6.8 Tỷ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667125"/>
            <a:ext cx="233779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Chiết Khấu Đại Lý 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2075" y="3667125"/>
            <a:ext cx="790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3.9 Tỷ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686300"/>
            <a:ext cx="262532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Dịch Vụ Tích Hợp &amp; Khác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700" y="4686300"/>
            <a:ext cx="7429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2.1 Tỷ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4954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1100" y="10287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475" y="1457325"/>
            <a:ext cx="882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https://media.istockphoto.com/id/504386002/vector/wallet-app-page-on-smartphone-screen.jpg?s=1024x1024&amp;w=is&amp;k=20&amp;c=EDrwvWoVld9BuFtGOA11trDWi9ibfn7XlHn_916YvG8=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1809750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